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37DC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Y1</c:v>
                  </c:pt>
                  <c:pt idx="1">
                    <c:v>Y2</c:v>
                  </c:pt>
                  <c:pt idx="2">
                    <c:v>Y3</c:v>
                  </c:pt>
                  <c:pt idx="3">
                    <c:v>Y4</c:v>
                  </c:pt>
                  <c:pt idx="4">
                    <c:v>Y5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2.4</c:v>
                </c:pt>
                <c:pt idx="1">
                  <c:v>7.5</c:v>
                </c:pt>
                <c:pt idx="2">
                  <c:v>18</c:v>
                </c:pt>
                <c:pt idx="3">
                  <c:v>38</c:v>
                </c:pt>
                <c:pt idx="4">
                  <c:v>65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2A4A3A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3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0480" y="1828800"/>
            <a:ext cx="1005840" cy="54864"/>
          </a:xfrm>
          <a:prstGeom prst="rect">
            <a:avLst/>
          </a:prstGeom>
          <a:solidFill>
            <a:srgbClr val="37DCF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20116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EduSparring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0" y="27432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Knowledge Into Competitive Battles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0" y="32918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Pitch Deck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3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Education Engagement Crisis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0D1F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students report being bored in traditional classrooms. Passive learning methods fail to capture attention in the digital age.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0D1F1A"/>
          </a:solidFill>
          <a:ln/>
        </p:spPr>
      </p:sp>
      <p:sp>
        <p:nvSpPr>
          <p:cNvPr id="7" name="Text 5"/>
          <p:cNvSpPr/>
          <p:nvPr/>
        </p:nvSpPr>
        <p:spPr>
          <a:xfrm>
            <a:off x="329184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B84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$1.5T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3474720" y="19202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EdTech market by 2028, yet engagement rates remain critically low across existing platforms.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51760" cy="3200400"/>
          </a:xfrm>
          <a:prstGeom prst="roundRect">
            <a:avLst>
              <a:gd name="adj" fmla="val 3448"/>
            </a:avLst>
          </a:prstGeom>
          <a:solidFill>
            <a:srgbClr val="0D1F1A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0" y="118872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B9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6309360" y="1920240"/>
            <a:ext cx="22860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retention with active recall vs passive learning. But most platforms still use outdated one-way content delivery.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3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Competitive Learning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for Students + AI-Powered Exam Preparation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D1F1A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Sparring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94360" y="18288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head-to-head quiz battles where players alternate asking AND answering questions. Active recall meets competitive gaming.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D1F1A"/>
          </a:solidFill>
          <a:ln/>
        </p:spPr>
      </p:sp>
      <p:sp>
        <p:nvSpPr>
          <p:cNvPr id="8" name="Text 6"/>
          <p:cNvSpPr/>
          <p:nvPr/>
        </p:nvSpPr>
        <p:spPr>
          <a:xfrm>
            <a:off x="342900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Rating (KR)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429000" y="18288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Chess-style ELO rating system for academics. 800 (Beginner) to 2000+ (Elite). Quantifiable progress students can track and share.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11887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0D1F1A"/>
          </a:solidFill>
          <a:ln/>
        </p:spPr>
      </p:sp>
      <p:sp>
        <p:nvSpPr>
          <p:cNvPr id="11" name="Text 9"/>
          <p:cNvSpPr/>
          <p:nvPr/>
        </p:nvSpPr>
        <p:spPr>
          <a:xfrm>
            <a:off x="6263640" y="1371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Learning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63640" y="1828800"/>
            <a:ext cx="237744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tutoring, adaptive difficulty, unlimited question generation, and real-time coaching. 24/7 availability at fraction of tutor cost.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3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Features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0D1F1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987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Knowledge Battles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multiplayer sparring matches with ranked matchmaking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0D1F1A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7647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39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Personalized tutoring in any subject with adaptive learning paths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46888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0D1F1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 with Bot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816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Practice anytime with AI opponents at 4 difficulty levels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24612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0D1F1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319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 Engine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3593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Cup-style competitions with brackets and prizes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0D1F1A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9875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Hub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92040" y="12618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with peers, form study circles, share achievements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69164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0D1F1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17647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Leaderboards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92040" y="203911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Climb rankings by subject, region, or globally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46888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0D1F1A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25420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Career Portal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92040" y="281635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High-KR students qualify for real work opportunities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3246120"/>
            <a:ext cx="4114800" cy="685800"/>
          </a:xfrm>
          <a:prstGeom prst="roundRect">
            <a:avLst>
              <a:gd name="adj" fmla="val 6667"/>
            </a:avLst>
          </a:prstGeom>
          <a:solidFill>
            <a:srgbClr val="0D1F1A"/>
          </a:solidFill>
          <a:ln/>
        </p:spPr>
      </p:sp>
      <p:sp>
        <p:nvSpPr>
          <p:cNvPr id="25" name="Text 23"/>
          <p:cNvSpPr/>
          <p:nvPr/>
        </p:nvSpPr>
        <p:spPr>
          <a:xfrm>
            <a:off x="4892040" y="33192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92040" y="359359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verification, parental controls, AI moderation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3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$404B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education market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MARKET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38328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$72B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38328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Online learning segment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309360" y="1371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MARKET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309360" y="17373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$8.5B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309360" y="2468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EdTech niche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3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365760"/>
          </a:xfrm>
          <a:prstGeom prst="roundRect">
            <a:avLst>
              <a:gd name="adj" fmla="val 12500"/>
            </a:avLst>
          </a:prstGeom>
          <a:solidFill>
            <a:srgbClr val="2A4A3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Plans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$0/month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7556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matches/day, basic features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Scholar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128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$4.99/month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957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 matches, AI coach, tournaments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Champion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852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$9.99/month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0358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 matchmaking, analytics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Elite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34930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$19.99/month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6758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1-on-1 AI tutoring, career counseling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54880" y="868680"/>
            <a:ext cx="3931920" cy="365760"/>
          </a:xfrm>
          <a:prstGeom prst="roundRect">
            <a:avLst>
              <a:gd name="adj" fmla="val 12500"/>
            </a:avLst>
          </a:prstGeom>
          <a:solidFill>
            <a:srgbClr val="2A4A3A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Plans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13716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Trial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846320" y="15727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- 30 days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175564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students, basic features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201168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0" y="221284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$299/month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846320" y="239572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students, internal exams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846320" y="2651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46320" y="285292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$799/month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303580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 students, regional exams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3291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46320" y="34930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pricing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846320" y="3675888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>
                    <a:alpha val="7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Unlimited, white-label, national exams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3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Advantage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1554480"/>
                <a:gridCol w="1554480"/>
                <a:gridCol w="15544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D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D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EduSparring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D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Duolingo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D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Kahoot!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7DCF2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Tutoring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4A3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Real-time Multiplayer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Academic Subjects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Languages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Knowledge Rating System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Question Generation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Unlimited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Limited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Career Pathway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6B6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Cost per Month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$0-20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$3-10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$50-150/hr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D1F1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3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Innovations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0D1F1A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Sparring Concept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Players alternate asking AND answering questions, creating deeper engagement and peer-to-peer learning dynamics.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754880" y="91440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0D1F1A"/>
          </a:solidFill>
          <a:ln/>
        </p:spPr>
      </p:sp>
      <p:sp>
        <p:nvSpPr>
          <p:cNvPr id="7" name="Text 5"/>
          <p:cNvSpPr/>
          <p:nvPr/>
        </p:nvSpPr>
        <p:spPr>
          <a:xfrm>
            <a:off x="4892040" y="100584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 Rating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892040" y="132588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educational platform with chess-style ELO rating, creating addiction loops and measurable progress tracking.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031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0D1F1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Mock Employment Program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25146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High-KR students qualify for real work opportunities, bridging education and employment with 92% career clarity rate.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10312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0D1F1A"/>
          </a:solidFill>
          <a:ln/>
        </p:spPr>
      </p:sp>
      <p:sp>
        <p:nvSpPr>
          <p:cNvPr id="13" name="Text 11"/>
          <p:cNvSpPr/>
          <p:nvPr/>
        </p:nvSpPr>
        <p:spPr>
          <a:xfrm>
            <a:off x="4892040" y="2194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Viral Highlights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5146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TikTok-style shareable battle recaps with dramatic moments, turning learning into shareable social content.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0D1F1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AI-Native Architecture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703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from ground up with AI integration for question generation, coaching, moderation, and personalization.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291840"/>
            <a:ext cx="4114800" cy="1051560"/>
          </a:xfrm>
          <a:prstGeom prst="roundRect">
            <a:avLst>
              <a:gd name="adj" fmla="val 6957"/>
            </a:avLst>
          </a:prstGeom>
          <a:solidFill>
            <a:srgbClr val="0D1F1A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3832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28+ Languages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92040" y="370332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translation enables global reach across 6 continents with localized exam preparation.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3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Flywheel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286000" y="914400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0D1F1A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914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Sparring Highlights Go Viral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343400" y="1325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286000" y="1600200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0D1F1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1600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Users Join Platform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43400" y="20116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286000" y="2286000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0D1F1A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22860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Seasonal Leagues Create Addiction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343400" y="26974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286000" y="2971800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0D1F1A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29718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Tournaments Drive Spectators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343400" y="33832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2286000" y="3657600"/>
            <a:ext cx="4572000" cy="457200"/>
          </a:xfrm>
          <a:prstGeom prst="roundRect">
            <a:avLst>
              <a:gd name="adj" fmla="val 10000"/>
            </a:avLst>
          </a:prstGeom>
          <a:solidFill>
            <a:srgbClr val="37DCF2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0" y="36576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933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 Growth = More Highlights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3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$2.4M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$18M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24231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6517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3464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$65M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457200" y="3246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ARR</a:t>
            </a:r>
            <a:endParaRPr lang="en-US" sz="100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2743200" y="914400"/>
          <a:ext cx="5943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3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Opportunity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3657600" cy="2286000"/>
          </a:xfrm>
          <a:prstGeom prst="roundRect">
            <a:avLst>
              <a:gd name="adj" fmla="val 4800"/>
            </a:avLst>
          </a:prstGeom>
          <a:solidFill>
            <a:srgbClr val="0D1F1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$2.5M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46304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14630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Development and AI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0" y="196596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303520" y="196596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and User Acquisition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0" y="24688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303520" y="24688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Expansion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29718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and Infrastructure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3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1645920"/>
            <a:ext cx="822960" cy="54864"/>
          </a:xfrm>
          <a:prstGeom prst="rect">
            <a:avLst/>
          </a:prstGeom>
          <a:solidFill>
            <a:srgbClr val="37DCF2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8288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EduSparring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0" y="24688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Knowledge Into Competitive Battles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transform education together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0" y="33832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7DC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investors@edusparring.com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EduSparring Investor Pitch Deck</dc:title>
  <dc:subject>Seed Investment Opportunity</dc:subject>
  <dc:creator>EduSparring</dc:creator>
  <cp:lastModifiedBy>EduSparring</cp:lastModifiedBy>
  <cp:revision>1</cp:revision>
  <dcterms:created xsi:type="dcterms:W3CDTF">2026-04-02T21:07:18Z</dcterms:created>
  <dcterms:modified xsi:type="dcterms:W3CDTF">2026-04-02T21:07:18Z</dcterms:modified>
</cp:coreProperties>
</file>